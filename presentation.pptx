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2926080"/>
          </a:xfrm>
          <a:prstGeom prst="rect">
            <a:avLst/>
          </a:prstGeom>
          <a:solidFill>
            <a:srgbClr val="4C9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40280"/>
            <a:ext cx="11094415" cy="9144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Установление авторства анонимного текста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0"/>
            <a:ext cx="1109441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libri"/>
              </a:rPr>
              <a:t>путём сравнения с текстами известных авторов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0"/>
            <a:ext cx="11094415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600" b="0">
                <a:solidFill>
                  <a:srgbClr val="E0E8F0"/>
                </a:solidFill>
                <a:latin typeface="Calibri"/>
              </a:rPr>
              <a:t>Курсовой проект по «Машинному обучению и нейронным сетям»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03520"/>
            <a:ext cx="11094415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800" b="1">
                <a:solidFill>
                  <a:srgbClr val="222222"/>
                </a:solidFill>
                <a:latin typeface="Calibri"/>
              </a:rPr>
              <a:t>Студент: Малышко Александр Викторович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669280"/>
            <a:ext cx="11094415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400" b="0">
                <a:solidFill>
                  <a:srgbClr val="666666"/>
                </a:solidFill>
                <a:latin typeface="Calibri"/>
              </a:rPr>
              <a:t>Группа СДП-КБ-231 · 3 курс · Кибербезопасность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035040"/>
            <a:ext cx="11094415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400" b="0">
                <a:solidFill>
                  <a:srgbClr val="666666"/>
                </a:solidFill>
                <a:latin typeface="Calibri"/>
              </a:rPr>
              <a:t>Научный руководитель: к. т. н., доц. Кадан А. М.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446520"/>
            <a:ext cx="12191695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Calibri"/>
              </a:rPr>
              <a:t>ГрГУ им. Янки Купалы · Гродно,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4C9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11460175" cy="777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Цель и задачи работы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214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7295" cy="128016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214780"/>
                </a:solidFill>
                <a:latin typeface="Calibri"/>
              </a:rPr>
              <a:t>ЦЕЛЬ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11535" cy="8229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Calibri"/>
              </a:rPr>
              <a:t>Разработать программный комплекс для установления авторства анонимного фрагмента текста путём сравнения его стилистических характеристик с характеристиками заранее обученного корпуса текстов известных авторов.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45720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800" b="1">
                <a:solidFill>
                  <a:srgbClr val="214780"/>
                </a:solidFill>
                <a:latin typeface="Calibri"/>
              </a:rPr>
              <a:t>Задачи: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112772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Изучить существующие подходы к атрибуции авторства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Определить набор информативных стилевых признаков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Собрать корпус текстов различных авторов на двух языках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Реализовать модуль извлечения признаков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Обучить ансамбль классификаторов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Провести экспериментальное исследование качества модели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Реализовать GUI для практического применения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92240"/>
            <a:ext cx="64008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Малышко А. В.  ·  СДП-КБ-231  ·  Установление авторства анонимного текста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4C9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11460175" cy="777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Краткая история стилометрии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214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istory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047" y="1097280"/>
            <a:ext cx="975360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029200"/>
            <a:ext cx="11277295" cy="1371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Стилометрия прошла путь от ручного подсчёта длин слов в XIX веке до современных нейросетевых моделей. Однако на корпусах среднего размера классические ML-методы с тщательно подобранными признаками по-прежнему превосходят deep learning по точности и ресурсоёмкости.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64008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Малышко А. В.  ·  СДП-КБ-231  ·  Установление авторства анонимного текста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4C9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11460175" cy="777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Признаки идентификации стиля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214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eature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047" y="1005840"/>
            <a:ext cx="822960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394960"/>
            <a:ext cx="112772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Лексические признаки несут информацию о словоупотреблении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Синтаксические — о грамматической структуре предложений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Стилометрические — простые, интерпретируемые показатели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64008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Малышко А. В.  ·  СДП-КБ-231  ·  Установление авторства анонимного текста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4C9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11460175" cy="777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Архитектура программного комплекса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214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3562" y="1005840"/>
            <a:ext cx="7184571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852160"/>
            <a:ext cx="11277295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  <a:latin typeface="Calibri"/>
              </a:rPr>
              <a:t>Слой бизнес-логики независим от GUI и может использоваться из CLI / скриптов. Python 3.12, PyQt6, scikit-learn, spaCy.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64008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Малышко А. В.  ·  СДП-КБ-231  ·  Установление авторства анонимного текста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4C9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11460175" cy="777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Датасет: 39 авторов, 3 648 чанков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214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taset_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9035" y="914400"/>
            <a:ext cx="5013624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955279" y="1097280"/>
            <a:ext cx="3931920" cy="484632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59" y="1234440"/>
            <a:ext cx="393192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214780"/>
                </a:solidFill>
                <a:latin typeface="Calibri"/>
              </a:rPr>
              <a:t>Состав корпуса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59" y="1645920"/>
            <a:ext cx="3566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 39 авторов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 ~55 % английский / 45 % русский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 Чанки по 800 слов, без перекрытий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 Фильтр: ≥ 3 чанка на автора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 Лимит 100 чанков на класс (балансировка)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 Источники: avidreaders.ru, english-e-reader.net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64008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Малышко А. В.  ·  СДП-КБ-231  ·  Установление авторства анонимного текста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4C9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11460175" cy="777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Извлечение признаков: итоговый набор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214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109728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6858000"/>
                <a:gridCol w="1554480"/>
              </a:tblGrid>
              <a:tr h="426720">
                <a:tc>
                  <a:txBody>
                    <a:bodyPr lIns="76200" rIns="76200" tIns="25400" bIns="25400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Группа</a:t>
                      </a:r>
                    </a:p>
                  </a:txBody>
                  <a:tcPr>
                    <a:solidFill>
                      <a:srgbClr val="214780"/>
                    </a:solidFill>
                  </a:tcPr>
                </a:tc>
                <a:tc>
                  <a:txBody>
                    <a:bodyPr lIns="76200" rIns="76200" tIns="25400" bIns="25400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Метод / признак</a:t>
                      </a:r>
                    </a:p>
                  </a:txBody>
                  <a:tcPr>
                    <a:solidFill>
                      <a:srgbClr val="214780"/>
                    </a:solidFill>
                  </a:tcPr>
                </a:tc>
                <a:tc>
                  <a:txBody>
                    <a:bodyPr lIns="76200" rIns="76200" tIns="25400" bIns="25400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Размер</a:t>
                      </a:r>
                    </a:p>
                  </a:txBody>
                  <a:tcPr>
                    <a:solidFill>
                      <a:srgbClr val="214780"/>
                    </a:solidFill>
                  </a:tcPr>
                </a:tc>
              </a:tr>
              <a:tr h="426720">
                <a:tc>
                  <a:txBody>
                    <a:bodyPr lIns="76200" rIns="76200" tIns="25400" bIns="25400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Лексические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76200" rIns="76200" tIns="25400" bIns="25400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TF-IDF слов (1-2 граммы)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76200" rIns="76200" tIns="25400" bIns="25400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≤ 1500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426720">
                <a:tc>
                  <a:txBody>
                    <a:bodyPr lIns="76200" rIns="76200" tIns="25400" bIns="25400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Лексические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25400" bIns="25400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TF-IDF символьных n-грамм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25400" bIns="25400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≤ 1000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lIns="76200" rIns="76200" tIns="25400" bIns="25400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Лексические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76200" rIns="76200" tIns="25400" bIns="25400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Функциональные слова EN+RU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76200" rIns="76200" tIns="25400" bIns="25400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≈ 170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426720">
                <a:tc>
                  <a:txBody>
                    <a:bodyPr lIns="76200" rIns="76200" tIns="25400" bIns="25400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Лексические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25400" bIns="25400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K Юла, TTR, TTR-1000, гапаксы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25400" bIns="25400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lIns="76200" rIns="76200" tIns="25400" bIns="25400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Синтаксические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76200" rIns="76200" tIns="25400" bIns="25400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POS-распределение (universal)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76200" rIns="76200" tIns="25400" bIns="25400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426720">
                <a:tc>
                  <a:txBody>
                    <a:bodyPr lIns="76200" rIns="76200" tIns="25400" bIns="25400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Синтаксические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25400" bIns="25400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POS-биграммы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25400" bIns="25400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≈ 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lIns="76200" rIns="76200" tIns="25400" bIns="25400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Синтаксические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76200" rIns="76200" tIns="25400" bIns="25400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Глубина синтаксического дерева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76200" rIns="76200" tIns="25400" bIns="25400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426720">
                <a:tc>
                  <a:txBody>
                    <a:bodyPr lIns="76200" rIns="76200" tIns="25400" bIns="25400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Стилометрические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25400" bIns="25400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Длина слова, длина предложения, СКО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25400" bIns="25400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lIns="76200" rIns="76200" tIns="25400" bIns="25400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Стилометрические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76200" rIns="76200" tIns="25400" bIns="25400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Доля длинных/коротких слов, пунктуация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76200" rIns="76200" tIns="25400" bIns="25400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426720">
                <a:tc>
                  <a:txBody>
                    <a:bodyPr lIns="76200" rIns="76200" tIns="25400" bIns="25400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Стилометрические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25400" bIns="25400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Прочие (запятые/предл., сложные предл. и т.п.)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25400" bIns="25400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lIns="76200" rIns="76200" tIns="25400" bIns="25400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Итог</a:t>
                      </a:r>
                    </a:p>
                  </a:txBody>
                  <a:tcPr>
                    <a:solidFill>
                      <a:srgbClr val="4C92E8"/>
                    </a:solidFill>
                  </a:tcPr>
                </a:tc>
                <a:tc>
                  <a:txBody>
                    <a:bodyPr lIns="76200" rIns="76200" tIns="25400" bIns="25400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Итоговый вектор признаков</a:t>
                      </a:r>
                    </a:p>
                  </a:txBody>
                  <a:tcPr>
                    <a:solidFill>
                      <a:srgbClr val="4C92E8"/>
                    </a:solidFill>
                  </a:tcPr>
                </a:tc>
                <a:tc>
                  <a:txBody>
                    <a:bodyPr lIns="76200" rIns="76200" tIns="25400" bIns="25400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≈ 2 700</a:t>
                      </a:r>
                    </a:p>
                  </a:txBody>
                  <a:tcPr>
                    <a:solidFill>
                      <a:srgbClr val="4C92E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6492240"/>
            <a:ext cx="64008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Малышко А. В.  ·  СДП-КБ-231  ·  Установление авторства анонимного текста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4C9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11460175" cy="777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Различие стилей: Толстой vs Чехов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214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ent_le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392" y="1097280"/>
            <a:ext cx="974891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212080"/>
            <a:ext cx="11277295" cy="1371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У Толстого распределение длин предложений с длинным хвостом &gt;50 слов — развёрнутый, периодический синтаксис XIX века. У Чехова распределение компактное, 7–15 слов — лаконичная манера. Такие различия суммарно формируют «отпечаток» автора, по которому классификаторы строят разделение.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64008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Малышко А. В.  ·  СДП-КБ-231  ·  Установление авторства анонимного текста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4C9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11460175" cy="777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Стилевые профили авторов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214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adar_prof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2311" y="1005840"/>
            <a:ext cx="6187072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989320"/>
            <a:ext cx="11277295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Calibri"/>
              </a:rPr>
              <a:t>6 ключевых стилометрических признаков, нормализованные. Чем больше площадь — тем выше значение признака относительно других.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64008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Малышко А. В.  ·  СДП-КБ-231  ·  Установление авторства анонимного текста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4C9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11460175" cy="777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Корреляция стилометрических признаков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214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eature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4208" y="960120"/>
            <a:ext cx="5923279" cy="484631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943600"/>
            <a:ext cx="11277295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Calibri"/>
              </a:rPr>
              <a:t>Heatmap Pearson по 14 стилометрическим признакам. Сильная отрицательная связь долей длинных и коротких слов, слабая — между лексическим разнообразием и пунктуацией.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64008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Малышко А. В.  ·  СДП-КБ-231  ·  Установление авторства анонимного текста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4C9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11460175" cy="777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Сравнение классификаторов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214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etric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6307" y="960120"/>
            <a:ext cx="7879080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486400"/>
            <a:ext cx="11277295" cy="10972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Logistic Regression — лучший одиночный модуль (test acc 87.3%), Random Forest — слабее всех на разреженных TF-IDF признаках. Ансамбль из трёх моделей за счёт усреднения вероятностей даёт устойчивый прирост в 1-2 п. п.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64008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Малышко А. В.  ·  СДП-КБ-231  ·  Установление авторства анонимного текста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4C9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11460175" cy="777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Матрица ошибок (top-15 классов)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214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4208" y="960120"/>
            <a:ext cx="5923279" cy="484631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943600"/>
            <a:ext cx="11277295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Calibri"/>
              </a:rPr>
              <a:t>Ошибки концентрируются на парах авторов одной эпохи и жанра (викторианские романисты — между собой; авторы с малой выборкой — путаются с похожими по стилю).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64008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Малышко А. В.  ·  СДП-КБ-231  ·  Установление авторства анонимного текста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4C9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11460175" cy="777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Per-class F1: связь с объёмом данных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214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er_class_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1055" y="960120"/>
            <a:ext cx="4849585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989320"/>
            <a:ext cx="11277295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Calibri"/>
              </a:rPr>
              <a:t>Цвет столбца — размер класса в тесте. Виден характерный спад F1 у авторов с малым количеством чанков (Гоголь, Чехов, Шекспир и т. п.).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64008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Малышко А. В.  ·  СДП-КБ-231  ·  Установление авторства анонимного текста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4C9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11460175" cy="777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Примеры атрибуции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214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ttribution_dostoevsk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5638647" cy="3383188"/>
          </a:xfrm>
          <a:prstGeom prst="rect">
            <a:avLst/>
          </a:prstGeom>
        </p:spPr>
      </p:pic>
      <p:pic>
        <p:nvPicPr>
          <p:cNvPr id="6" name="Picture 5" descr="attribution_gog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7287" y="1005840"/>
            <a:ext cx="5638647" cy="33831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85216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Calibri"/>
              </a:rPr>
              <a:t>Слева: автор хорошо представлен в обучающей выборке. Справа: автор с малым объёмом данных — модель путает с близким по стилю Лесковым (который называл Гоголя одним из учителей).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64008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Малышко А. В.  ·  СДП-КБ-231  ·  Установление авторства анонимного текста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4C9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11460175" cy="777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Заключение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214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77295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800" b="1">
                <a:solidFill>
                  <a:srgbClr val="214780"/>
                </a:solidFill>
                <a:latin typeface="Calibri"/>
              </a:rPr>
              <a:t>Реализован программный комплекс установления авторства анонимного текста.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4864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600" b="1">
                <a:solidFill>
                  <a:srgbClr val="222222"/>
                </a:solidFill>
                <a:latin typeface="Calibri"/>
              </a:rPr>
              <a:t>Достигнутые результаты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Test accuracy ансамбля 89-91% при 39 классах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В ~35 раз точнее случайного угадывания (2.6%)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Logistic Regression — лучший одиночный модуль (88.5%)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Поддержка русского и английского языков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Десктопное приложение на PyQt6, 3 рабочих сценария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54864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600" b="1">
                <a:solidFill>
                  <a:srgbClr val="222222"/>
                </a:solidFill>
                <a:latin typeface="Calibri"/>
              </a:rPr>
              <a:t>Направления развития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2860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Кросс-валидация вместо одной отложенной выборки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Подбор гиперпараметров (особенно Random Forest)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Разбиение на чанки с учётом границ предложений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Нейронные эмбеддинги как дополнительные признаки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Интерпретируемость: какие признаки решили атрибуцию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solidFill>
            <a:srgbClr val="4C9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github.com/Rekname/authorship_attribution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92240"/>
            <a:ext cx="64008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Малышко А. В.  ·  СДП-КБ-231  ·  Установление авторства анонимного текста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